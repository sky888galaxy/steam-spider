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7" r:id="rId3"/>
  </p:sldMasterIdLst>
  <p:notesMasterIdLst>
    <p:notesMasterId r:id="rId6"/>
  </p:notesMasterIdLst>
  <p:sldIdLst>
    <p:sldId id="308" r:id="rId4"/>
    <p:sldId id="256" r:id="rId5"/>
    <p:sldId id="307" r:id="rId7"/>
    <p:sldId id="310" r:id="rId8"/>
    <p:sldId id="311" r:id="rId9"/>
    <p:sldId id="312" r:id="rId10"/>
    <p:sldId id="313" r:id="rId11"/>
    <p:sldId id="320" r:id="rId12"/>
    <p:sldId id="327" r:id="rId13"/>
    <p:sldId id="326" r:id="rId14"/>
    <p:sldId id="314" r:id="rId15"/>
    <p:sldId id="315" r:id="rId16"/>
    <p:sldId id="324" r:id="rId17"/>
    <p:sldId id="322" r:id="rId18"/>
    <p:sldId id="321" r:id="rId19"/>
    <p:sldId id="323" r:id="rId20"/>
    <p:sldId id="316" r:id="rId21"/>
    <p:sldId id="325" r:id="rId22"/>
    <p:sldId id="317" r:id="rId23"/>
    <p:sldId id="304" r:id="rId24"/>
  </p:sldIdLst>
  <p:sldSz cx="9144000" cy="5143500" type="screen16x9"/>
  <p:notesSz cx="6858000" cy="9144000"/>
  <p:embeddedFontLst>
    <p:embeddedFont>
      <p:font typeface="Figtree Black"/>
      <p:bold r:id="rId28"/>
      <p:italic r:id="rId29"/>
    </p:embeddedFont>
    <p:embeddedFont>
      <p:font typeface="Hanken Grotesk"/>
      <p:regular r:id="rId30"/>
    </p:embeddedFont>
    <p:embeddedFont>
      <p:font typeface="Proxima Nova" panose="02000506030000020004"/>
      <p:regular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72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1" Type="http://schemas.openxmlformats.org/officeDocument/2006/relationships/font" Target="fonts/font4.fntdata"/><Relationship Id="rId30" Type="http://schemas.openxmlformats.org/officeDocument/2006/relationships/font" Target="fonts/font3.fntdata"/><Relationship Id="rId3" Type="http://schemas.openxmlformats.org/officeDocument/2006/relationships/slideMaster" Target="slideMasters/slideMaster2.xml"/><Relationship Id="rId29" Type="http://schemas.openxmlformats.org/officeDocument/2006/relationships/font" Target="fonts/font2.fntdata"/><Relationship Id="rId28" Type="http://schemas.openxmlformats.org/officeDocument/2006/relationships/font" Target="fonts/font1.fntdata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68ca7ef44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68ca7ef44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0" name="Google Shape;11070;g27759c7d5c0_2_109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1" name="Google Shape;11071;g27759c7d5c0_2_109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7346075" y="130450"/>
            <a:ext cx="4889100" cy="4889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0" name="Google Shape;10;p2"/>
          <p:cNvGrpSpPr/>
          <p:nvPr/>
        </p:nvGrpSpPr>
        <p:grpSpPr>
          <a:xfrm>
            <a:off x="727425" y="-49275"/>
            <a:ext cx="7703400" cy="5243325"/>
            <a:chOff x="727425" y="-49275"/>
            <a:chExt cx="7703400" cy="5243325"/>
          </a:xfrm>
        </p:grpSpPr>
        <p:sp>
          <p:nvSpPr>
            <p:cNvPr id="11" name="Google Shape;11;p2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12" name="Google Shape;12;p2"/>
            <p:cNvCxnSpPr/>
            <p:nvPr/>
          </p:nvCxnSpPr>
          <p:spPr>
            <a:xfrm rot="10800000">
              <a:off x="727425" y="-49275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 rot="10800000">
              <a:off x="8430775" y="4608450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87125" y="1670213"/>
            <a:ext cx="5897400" cy="13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087125" y="2997488"/>
            <a:ext cx="5897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7" name="Google Shape;27;p4"/>
          <p:cNvGrpSpPr/>
          <p:nvPr/>
        </p:nvGrpSpPr>
        <p:grpSpPr>
          <a:xfrm>
            <a:off x="-19050" y="232800"/>
            <a:ext cx="8930250" cy="5027400"/>
            <a:chOff x="-19050" y="232800"/>
            <a:chExt cx="8930250" cy="5027400"/>
          </a:xfrm>
        </p:grpSpPr>
        <p:sp>
          <p:nvSpPr>
            <p:cNvPr id="28" name="Google Shape;28;p4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29" name="Google Shape;29;p4"/>
            <p:cNvCxnSpPr/>
            <p:nvPr/>
          </p:nvCxnSpPr>
          <p:spPr>
            <a:xfrm rot="10800000">
              <a:off x="-19050" y="232800"/>
              <a:ext cx="2589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4"/>
            <p:cNvCxnSpPr/>
            <p:nvPr/>
          </p:nvCxnSpPr>
          <p:spPr>
            <a:xfrm>
              <a:off x="8911200" y="4917300"/>
              <a:ext cx="0" cy="3429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9"/>
          <p:cNvSpPr/>
          <p:nvPr/>
        </p:nvSpPr>
        <p:spPr>
          <a:xfrm>
            <a:off x="-2613450" y="-126025"/>
            <a:ext cx="5402100" cy="5402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0" name="Google Shape;70;p9"/>
          <p:cNvGrpSpPr/>
          <p:nvPr/>
        </p:nvGrpSpPr>
        <p:grpSpPr>
          <a:xfrm>
            <a:off x="727425" y="-49275"/>
            <a:ext cx="7703400" cy="5243325"/>
            <a:chOff x="727425" y="-49275"/>
            <a:chExt cx="7703400" cy="5243325"/>
          </a:xfrm>
        </p:grpSpPr>
        <p:sp>
          <p:nvSpPr>
            <p:cNvPr id="71" name="Google Shape;71;p9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72" name="Google Shape;72;p9"/>
            <p:cNvCxnSpPr/>
            <p:nvPr/>
          </p:nvCxnSpPr>
          <p:spPr>
            <a:xfrm rot="10800000">
              <a:off x="727425" y="-49275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" name="Google Shape;73;p9"/>
            <p:cNvCxnSpPr/>
            <p:nvPr/>
          </p:nvCxnSpPr>
          <p:spPr>
            <a:xfrm rot="10800000">
              <a:off x="8430775" y="4608450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3496850" y="1021763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3496850" y="3117038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/>
          <p:nvPr/>
        </p:nvSpPr>
        <p:spPr>
          <a:xfrm>
            <a:off x="-3422975" y="0"/>
            <a:ext cx="5143500" cy="5143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1" name="Google Shape;81;p11"/>
          <p:cNvGrpSpPr/>
          <p:nvPr/>
        </p:nvGrpSpPr>
        <p:grpSpPr>
          <a:xfrm>
            <a:off x="727425" y="-382650"/>
            <a:ext cx="7703400" cy="5907300"/>
            <a:chOff x="727425" y="-382650"/>
            <a:chExt cx="7703400" cy="5907300"/>
          </a:xfrm>
        </p:grpSpPr>
        <p:sp>
          <p:nvSpPr>
            <p:cNvPr id="82" name="Google Shape;82;p11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83" name="Google Shape;83;p11"/>
            <p:cNvCxnSpPr/>
            <p:nvPr/>
          </p:nvCxnSpPr>
          <p:spPr>
            <a:xfrm>
              <a:off x="727425" y="4608450"/>
              <a:ext cx="0" cy="916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" name="Google Shape;84;p11"/>
            <p:cNvCxnSpPr/>
            <p:nvPr/>
          </p:nvCxnSpPr>
          <p:spPr>
            <a:xfrm>
              <a:off x="8430775" y="-382650"/>
              <a:ext cx="0" cy="916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5" name="Google Shape;85;p11"/>
          <p:cNvSpPr txBox="1">
            <a:spLocks noGrp="1"/>
          </p:cNvSpPr>
          <p:nvPr>
            <p:ph type="title" hasCustomPrompt="1"/>
          </p:nvPr>
        </p:nvSpPr>
        <p:spPr>
          <a:xfrm>
            <a:off x="2603050" y="1856113"/>
            <a:ext cx="5827800" cy="10245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49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1"/>
          </p:nvPr>
        </p:nvSpPr>
        <p:spPr>
          <a:xfrm>
            <a:off x="2603050" y="2880588"/>
            <a:ext cx="5827800" cy="40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solidFill>
          <a:schemeClr val="accent2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4"/>
          <p:cNvSpPr/>
          <p:nvPr/>
        </p:nvSpPr>
        <p:spPr>
          <a:xfrm>
            <a:off x="-2125550" y="3018625"/>
            <a:ext cx="4243200" cy="4243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15" name="Google Shape;115;p14"/>
          <p:cNvGrpSpPr/>
          <p:nvPr/>
        </p:nvGrpSpPr>
        <p:grpSpPr>
          <a:xfrm>
            <a:off x="727425" y="-29250"/>
            <a:ext cx="8550550" cy="4637825"/>
            <a:chOff x="727425" y="-29250"/>
            <a:chExt cx="8550550" cy="4637825"/>
          </a:xfrm>
        </p:grpSpPr>
        <p:sp>
          <p:nvSpPr>
            <p:cNvPr id="116" name="Google Shape;116;p14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117" name="Google Shape;117;p14"/>
            <p:cNvCxnSpPr/>
            <p:nvPr/>
          </p:nvCxnSpPr>
          <p:spPr>
            <a:xfrm rot="10800000">
              <a:off x="727425" y="-29250"/>
              <a:ext cx="0" cy="562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8" name="Google Shape;118;p14"/>
            <p:cNvCxnSpPr/>
            <p:nvPr/>
          </p:nvCxnSpPr>
          <p:spPr>
            <a:xfrm>
              <a:off x="8430775" y="4608575"/>
              <a:ext cx="8472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9" name="Google Shape;119;p14"/>
          <p:cNvSpPr txBox="1">
            <a:spLocks noGrp="1"/>
          </p:cNvSpPr>
          <p:nvPr>
            <p:ph type="title"/>
          </p:nvPr>
        </p:nvSpPr>
        <p:spPr>
          <a:xfrm>
            <a:off x="2212125" y="2464650"/>
            <a:ext cx="59139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20" name="Google Shape;120;p14"/>
          <p:cNvSpPr txBox="1">
            <a:spLocks noGrp="1"/>
          </p:cNvSpPr>
          <p:nvPr>
            <p:ph type="subTitle" idx="1"/>
          </p:nvPr>
        </p:nvSpPr>
        <p:spPr>
          <a:xfrm>
            <a:off x="2212125" y="838350"/>
            <a:ext cx="5913900" cy="162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8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68" name="Google Shape;268;p28"/>
          <p:cNvGrpSpPr/>
          <p:nvPr/>
        </p:nvGrpSpPr>
        <p:grpSpPr>
          <a:xfrm>
            <a:off x="232200" y="-49400"/>
            <a:ext cx="8679000" cy="5250800"/>
            <a:chOff x="232200" y="-49400"/>
            <a:chExt cx="8679000" cy="5250800"/>
          </a:xfrm>
        </p:grpSpPr>
        <p:sp>
          <p:nvSpPr>
            <p:cNvPr id="269" name="Google Shape;269;p28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70" name="Google Shape;270;p28"/>
            <p:cNvGrpSpPr/>
            <p:nvPr/>
          </p:nvGrpSpPr>
          <p:grpSpPr>
            <a:xfrm>
              <a:off x="232200" y="-49400"/>
              <a:ext cx="8679000" cy="5250800"/>
              <a:chOff x="232200" y="-49400"/>
              <a:chExt cx="8679000" cy="5250800"/>
            </a:xfrm>
          </p:grpSpPr>
          <p:cxnSp>
            <p:nvCxnSpPr>
              <p:cNvPr id="271" name="Google Shape;271;p28"/>
              <p:cNvCxnSpPr/>
              <p:nvPr/>
            </p:nvCxnSpPr>
            <p:spPr>
              <a:xfrm rot="10800000">
                <a:off x="232200" y="-494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2" name="Google Shape;272;p28"/>
              <p:cNvCxnSpPr/>
              <p:nvPr/>
            </p:nvCxnSpPr>
            <p:spPr>
              <a:xfrm rot="10800000">
                <a:off x="8911200" y="49173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9"/>
          <p:cNvSpPr/>
          <p:nvPr/>
        </p:nvSpPr>
        <p:spPr>
          <a:xfrm>
            <a:off x="8141975" y="-88657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75" name="Google Shape;275;p29"/>
          <p:cNvGrpSpPr/>
          <p:nvPr/>
        </p:nvGrpSpPr>
        <p:grpSpPr>
          <a:xfrm>
            <a:off x="232200" y="232800"/>
            <a:ext cx="9045000" cy="4975500"/>
            <a:chOff x="232200" y="232800"/>
            <a:chExt cx="9045000" cy="4975500"/>
          </a:xfrm>
        </p:grpSpPr>
        <p:sp>
          <p:nvSpPr>
            <p:cNvPr id="276" name="Google Shape;276;p29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277" name="Google Shape;277;p29"/>
            <p:cNvCxnSpPr/>
            <p:nvPr/>
          </p:nvCxnSpPr>
          <p:spPr>
            <a:xfrm>
              <a:off x="8911200" y="232800"/>
              <a:ext cx="366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" name="Google Shape;278;p29"/>
            <p:cNvCxnSpPr/>
            <p:nvPr/>
          </p:nvCxnSpPr>
          <p:spPr>
            <a:xfrm>
              <a:off x="232200" y="4917300"/>
              <a:ext cx="1200" cy="2910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 slide">
  <p:cSld name="BLANK"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gtree Black"/>
              <a:buNone/>
              <a:defRPr sz="28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0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81" name="Google Shape;281;p3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●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○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■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●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○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■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●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○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 panose="02000506030000020004"/>
              <a:buChar char="■"/>
              <a:defRPr sz="1100">
                <a:solidFill>
                  <a:srgbClr val="435D74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47866" y="1164298"/>
            <a:ext cx="5982984" cy="1716315"/>
          </a:xfrm>
        </p:spPr>
        <p:txBody>
          <a:bodyPr/>
          <a:lstStyle/>
          <a:p>
            <a:r>
              <a:rPr lang="en-US" altLang="zh-CN" dirty="0"/>
              <a:t>Steam</a:t>
            </a:r>
            <a:r>
              <a:rPr lang="zh-CN" altLang="en-US" dirty="0"/>
              <a:t>游戏数据抓取与评论分析程序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02865" y="2880360"/>
            <a:ext cx="5828030" cy="906780"/>
          </a:xfrm>
        </p:spPr>
        <p:txBody>
          <a:bodyPr/>
          <a:lstStyle/>
          <a:p>
            <a:r>
              <a:rPr lang="zh-CN" altLang="en-US" dirty="0"/>
              <a:t>组员：白皓天、吴家同、王一笑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837" y="3285888"/>
            <a:ext cx="1243013" cy="1243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eb crawler Generic Outline Color icon | Freepi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93" y="2894169"/>
            <a:ext cx="405300" cy="40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3"/>
          <p:cNvSpPr txBox="1">
            <a:spLocks noGrp="1"/>
          </p:cNvSpPr>
          <p:nvPr>
            <p:ph type="ctrTitle"/>
          </p:nvPr>
        </p:nvSpPr>
        <p:spPr>
          <a:xfrm>
            <a:off x="1087120" y="1670050"/>
            <a:ext cx="6897370" cy="1392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我超想</a:t>
            </a:r>
            <a:r>
              <a:rPr lang="zh-CN" altLang="en-US" dirty="0"/>
              <a:t>超你</a:t>
            </a:r>
            <a:r>
              <a:rPr lang="en-US" altLang="zh-CN" dirty="0"/>
              <a:t> </a:t>
            </a:r>
            <a:r>
              <a:rPr lang="en-US" dirty="0"/>
              <a:t>steam-spider</a:t>
            </a:r>
            <a:endParaRPr lang="en-US" dirty="0"/>
          </a:p>
        </p:txBody>
      </p:sp>
      <p:sp>
        <p:nvSpPr>
          <p:cNvPr id="290" name="Google Shape;290;p33"/>
          <p:cNvSpPr txBox="1">
            <a:spLocks noGrp="1"/>
          </p:cNvSpPr>
          <p:nvPr>
            <p:ph type="subTitle" idx="1"/>
          </p:nvPr>
        </p:nvSpPr>
        <p:spPr>
          <a:xfrm>
            <a:off x="1087125" y="2997488"/>
            <a:ext cx="5897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dirty="0">
                <a:latin typeface="Hanken Grotesk"/>
                <a:ea typeface="Hanken Grotesk"/>
                <a:cs typeface="Hanken Grotesk"/>
                <a:sym typeface="Hanken Grotesk"/>
              </a:rPr>
              <a:t>2025/11/5</a:t>
            </a:r>
            <a:endParaRPr lang="en-US" altLang="en-GB" dirty="0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背景与目标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背景：</a:t>
            </a:r>
            <a:r>
              <a:rPr lang="en-US" altLang="zh-CN" dirty="0"/>
              <a:t>Steam </a:t>
            </a:r>
            <a:r>
              <a:rPr lang="zh-CN" altLang="en-US" dirty="0"/>
              <a:t>平台数据量大、页面结构复杂，存在数据噪声；国内盗版网站多，新用户容易被骗，</a:t>
            </a:r>
            <a:r>
              <a:rPr lang="zh-CN" altLang="en-US" dirty="0"/>
              <a:t>而且评论区存在广告</a:t>
            </a:r>
            <a:r>
              <a:rPr lang="en-US" altLang="zh-CN" dirty="0"/>
              <a:t>/</a:t>
            </a:r>
            <a:r>
              <a:rPr lang="zh-CN" altLang="en-US" dirty="0"/>
              <a:t>外挂</a:t>
            </a:r>
            <a:r>
              <a:rPr lang="en-US" altLang="zh-CN" dirty="0"/>
              <a:t>/</a:t>
            </a:r>
            <a:r>
              <a:rPr lang="zh-CN" altLang="en-US" dirty="0"/>
              <a:t>联系方式等威胁信息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目标：做一个干净一致的资料库，可以统计热销游戏的所有信息；并通过爬取信息来对相关内容进行进一步的分析总结，并据此提炼出深度结论。同时对游戏相关评论进行安全问题</a:t>
            </a:r>
            <a:r>
              <a:rPr lang="zh-CN" altLang="en-US" dirty="0"/>
              <a:t>警戒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总体架构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0090" y="1216025"/>
            <a:ext cx="8053070" cy="3232785"/>
          </a:xfrm>
        </p:spPr>
        <p:txBody>
          <a:bodyPr/>
          <a:lstStyle/>
          <a:p>
            <a:r>
              <a:rPr lang="zh-CN" altLang="en-US" dirty="0"/>
              <a:t>结构：</a:t>
            </a:r>
            <a:endParaRPr lang="zh-CN" altLang="en-US" dirty="0"/>
          </a:p>
          <a:p>
            <a:pPr marL="177800" indent="0">
              <a:buNone/>
            </a:pPr>
            <a:r>
              <a:rPr lang="zh-CN" altLang="en-US" dirty="0"/>
              <a:t>数据抓取：</a:t>
            </a:r>
            <a:r>
              <a:rPr lang="en-US" altLang="zh-CN" dirty="0" err="1"/>
              <a:t>src</a:t>
            </a:r>
            <a:r>
              <a:rPr lang="en-US" altLang="zh-CN" dirty="0"/>
              <a:t>/steam_data_extractor.py - raw_csv</a:t>
            </a:r>
            <a:endParaRPr lang="en-US" altLang="zh-CN" dirty="0"/>
          </a:p>
          <a:p>
            <a:pPr marL="177800" indent="0">
              <a:buNone/>
            </a:pPr>
            <a:r>
              <a:rPr lang="zh-CN" altLang="en-US" dirty="0"/>
              <a:t>数据清洗：</a:t>
            </a:r>
            <a:r>
              <a:rPr lang="en-US" altLang="zh-CN" dirty="0" err="1"/>
              <a:t>src</a:t>
            </a:r>
            <a:r>
              <a:rPr lang="en-US" altLang="zh-CN" dirty="0"/>
              <a:t>/clean/data_cleaner.py - cleaned_csv</a:t>
            </a:r>
            <a:endParaRPr lang="en-US" altLang="zh-CN" dirty="0"/>
          </a:p>
          <a:p>
            <a:pPr marL="177800" indent="0">
              <a:buNone/>
            </a:pPr>
            <a:r>
              <a:rPr lang="zh-CN" altLang="en-US" dirty="0"/>
              <a:t>评论威胁分析：</a:t>
            </a:r>
            <a:r>
              <a:rPr lang="en-US" altLang="zh-CN" dirty="0" err="1"/>
              <a:t>src</a:t>
            </a:r>
            <a:r>
              <a:rPr lang="en-US" altLang="zh-CN" dirty="0"/>
              <a:t>/comments/simple_steam_crawler_easy.py - comment_analysis_results.csv</a:t>
            </a:r>
            <a:endParaRPr lang="en-US" altLang="zh-CN" dirty="0"/>
          </a:p>
          <a:p>
            <a:pPr marL="177800" indent="0">
              <a:buNone/>
            </a:pPr>
            <a:r>
              <a:rPr lang="zh-CN" altLang="en-US" dirty="0"/>
              <a:t>数据分析</a:t>
            </a:r>
            <a:r>
              <a:rPr lang="en-US" altLang="zh-CN" dirty="0"/>
              <a:t>:  src/analysis part/data_analsis.py 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103245"/>
            <a:ext cx="9144000" cy="13455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数据抓取模块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/>
          </a:p>
          <a:p>
            <a:r>
              <a:rPr lang="en-US" altLang="zh-CN"/>
              <a:t>fetch_search_page</a:t>
            </a:r>
            <a:r>
              <a:rPr lang="zh-CN" altLang="en-US">
                <a:ea typeface="宋体" panose="02010600030101010101" pitchFamily="2" charset="-122"/>
              </a:rPr>
              <a:t>（）</a:t>
            </a:r>
            <a:endParaRPr lang="zh-CN" altLang="en-US">
              <a:ea typeface="宋体" panose="02010600030101010101" pitchFamily="2" charset="-122"/>
            </a:endParaRPr>
          </a:p>
          <a:p>
            <a:r>
              <a:rPr lang="en-US" altLang="zh-CN"/>
              <a:t>parse_search_html</a:t>
            </a:r>
            <a:r>
              <a:rPr lang="zh-CN" altLang="en-US">
                <a:ea typeface="宋体" panose="02010600030101010101" pitchFamily="2" charset="-122"/>
              </a:rPr>
              <a:t>（）</a:t>
            </a:r>
            <a:endParaRPr lang="en-US" altLang="zh-CN"/>
          </a:p>
          <a:p>
            <a:r>
              <a:rPr lang="en-US" altLang="zh-CN"/>
              <a:t>price_fallback_from_text</a:t>
            </a:r>
            <a:r>
              <a:rPr lang="zh-CN" altLang="en-US">
                <a:ea typeface="宋体" panose="02010600030101010101" pitchFamily="2" charset="-122"/>
              </a:rPr>
              <a:t>（）</a:t>
            </a:r>
            <a:endParaRPr lang="en-US" altLang="zh-CN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数据</a:t>
            </a:r>
            <a:r>
              <a:rPr lang="zh-CN" altLang="en-US"/>
              <a:t>来源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8995" y="0"/>
            <a:ext cx="4485005" cy="14738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995" y="1473835"/>
            <a:ext cx="4485005" cy="17056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885" y="2990215"/>
            <a:ext cx="4476115" cy="202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数据清洗模块</a:t>
            </a:r>
            <a:r>
              <a:rPr lang="en-US" altLang="zh-CN" dirty="0"/>
              <a:t> 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47610" y="1215750"/>
            <a:ext cx="7704000" cy="3233100"/>
          </a:xfrm>
        </p:spPr>
        <p:txBody>
          <a:bodyPr/>
          <a:lstStyle/>
          <a:p>
            <a:pPr marL="177800" indent="0">
              <a:buNone/>
            </a:pPr>
            <a:endParaRPr lang="zh-CN" altLang="en-US"/>
          </a:p>
          <a:p>
            <a:endParaRPr lang="zh-CN" altLang="en-US"/>
          </a:p>
          <a:p>
            <a:pPr marL="177800" indent="0">
              <a:buNone/>
            </a:pPr>
            <a:r>
              <a:rPr lang="zh-CN" altLang="en-US"/>
              <a:t>清洗</a:t>
            </a:r>
            <a:r>
              <a:rPr lang="zh-CN" altLang="en-US"/>
              <a:t>规范：</a:t>
            </a:r>
            <a:endParaRPr lang="zh-CN" altLang="en-US"/>
          </a:p>
          <a:p>
            <a:r>
              <a:rPr lang="zh-CN" altLang="en-US"/>
              <a:t>标题：去</a:t>
            </a:r>
            <a:r>
              <a:rPr lang="en-US" altLang="en-US"/>
              <a:t>™</a:t>
            </a:r>
            <a:r>
              <a:rPr lang="en-US" altLang="zh-CN"/>
              <a:t>/</a:t>
            </a:r>
            <a:r>
              <a:rPr lang="en-US" altLang="en-US"/>
              <a:t>®</a:t>
            </a:r>
            <a:r>
              <a:rPr lang="en-US" altLang="zh-CN"/>
              <a:t>/</a:t>
            </a:r>
            <a:r>
              <a:rPr lang="en-US" altLang="en-US"/>
              <a:t>©</a:t>
            </a:r>
            <a:r>
              <a:rPr lang="zh-CN">
                <a:ea typeface="宋体" panose="02010600030101010101" pitchFamily="2" charset="-122"/>
              </a:rPr>
              <a:t>与多余</a:t>
            </a:r>
            <a:r>
              <a:rPr lang="zh-CN">
                <a:ea typeface="宋体" panose="02010600030101010101" pitchFamily="2" charset="-122"/>
              </a:rPr>
              <a:t>空白</a:t>
            </a:r>
            <a:endParaRPr lang="zh-CN">
              <a:ea typeface="宋体" panose="02010600030101010101" pitchFamily="2" charset="-122"/>
            </a:endParaRPr>
          </a:p>
          <a:p>
            <a:r>
              <a:rPr lang="zh-CN">
                <a:ea typeface="宋体" panose="02010600030101010101" pitchFamily="2" charset="-122"/>
              </a:rPr>
              <a:t>价格：正则提取数字为</a:t>
            </a:r>
            <a:r>
              <a:rPr lang="en-US" altLang="zh-CN">
                <a:ea typeface="宋体" panose="02010600030101010101" pitchFamily="2" charset="-122"/>
              </a:rPr>
              <a:t>float</a:t>
            </a:r>
            <a:r>
              <a:rPr lang="zh-CN">
                <a:ea typeface="宋体" panose="02010600030101010101" pitchFamily="2" charset="-122"/>
              </a:rPr>
              <a:t>，无数字</a:t>
            </a:r>
            <a:r>
              <a:rPr lang="en-US" altLang="zh-CN">
                <a:ea typeface="宋体" panose="02010600030101010101" pitchFamily="2" charset="-122"/>
              </a:rPr>
              <a:t>-&gt;0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en-US" altLang="zh-CN">
                <a:ea typeface="宋体" panose="02010600030101010101" pitchFamily="2" charset="-122"/>
              </a:rPr>
              <a:t>tag</a:t>
            </a:r>
            <a:r>
              <a:rPr lang="zh-CN" altLang="en-US">
                <a:ea typeface="宋体" panose="02010600030101010101" pitchFamily="2" charset="-122"/>
              </a:rPr>
              <a:t>标签：统一分割，</a:t>
            </a:r>
            <a:r>
              <a:rPr lang="zh-CN" altLang="en-US">
                <a:ea typeface="宋体" panose="02010600030101010101" pitchFamily="2" charset="-122"/>
              </a:rPr>
              <a:t>去重</a:t>
            </a:r>
            <a:endParaRPr lang="zh-CN" altLang="en-US">
              <a:ea typeface="宋体" panose="02010600030101010101" pitchFamily="2" charset="-122"/>
            </a:endParaRPr>
          </a:p>
          <a:p>
            <a:r>
              <a:rPr lang="zh-CN" altLang="en-US">
                <a:ea typeface="宋体" panose="02010600030101010101" pitchFamily="2" charset="-122"/>
              </a:rPr>
              <a:t>合法性</a:t>
            </a: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7" name="文本占位符 2"/>
          <p:cNvSpPr>
            <a:spLocks noGrp="1"/>
          </p:cNvSpPr>
          <p:nvPr/>
        </p:nvSpPr>
        <p:spPr>
          <a:xfrm>
            <a:off x="4572000" y="1911985"/>
            <a:ext cx="4439285" cy="2432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Char char="●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r>
              <a:rPr lang="en-US" altLang="zh-CN"/>
              <a:t>str.</a:t>
            </a:r>
            <a:r>
              <a:rPr lang="en-US" altLang="zh-CN"/>
              <a:t>strip()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re.sub(r'\s+', ' ', ...)     sub(r'[</a:t>
            </a:r>
            <a:r>
              <a:rPr lang="" altLang="en-US"/>
              <a:t>™</a:t>
            </a:r>
            <a:r>
              <a:rPr lang="en-US" altLang="en-US"/>
              <a:t>®</a:t>
            </a:r>
            <a:r>
              <a:rPr lang="" altLang="en-US"/>
              <a:t>©</a:t>
            </a:r>
            <a:r>
              <a:rPr lang="en-US" altLang="zh-CN"/>
              <a:t>]', '', ...) 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re.findall(r'\d+.?\d*', ...)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replace('</a:t>
            </a:r>
            <a:r>
              <a:rPr lang="zh-CN" altLang="en-US"/>
              <a:t>，</a:t>
            </a:r>
            <a:r>
              <a:rPr lang="en-US" altLang="zh-CN"/>
              <a:t>'/'</a:t>
            </a:r>
            <a:r>
              <a:rPr lang="zh-CN" altLang="en-US"/>
              <a:t>、</a:t>
            </a:r>
            <a:r>
              <a:rPr lang="en-US" altLang="zh-CN"/>
              <a:t>'/'|'/';', ',')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数据清洗模块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7800" indent="0">
              <a:buNone/>
            </a:pPr>
            <a:r>
              <a:rPr lang="zh-CN" altLang="en-US"/>
              <a:t>清洗前：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685290"/>
            <a:ext cx="8515350" cy="9982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247390"/>
            <a:ext cx="9144000" cy="10433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74395" y="2889250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清洗后：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dirty="0">
                <a:sym typeface="+mn-ea"/>
              </a:rPr>
              <a:t>评论威胁分析模块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可疑评论</a:t>
            </a:r>
            <a:r>
              <a:rPr lang="zh-CN" altLang="en-US"/>
              <a:t>爬取：</a:t>
            </a:r>
            <a:endParaRPr lang="zh-CN" altLang="en-US"/>
          </a:p>
          <a:p>
            <a:r>
              <a:rPr lang="zh-CN" altLang="en-US"/>
              <a:t>容器</a:t>
            </a:r>
            <a:r>
              <a:rPr lang="en-US" altLang="zh-CN"/>
              <a:t> </a:t>
            </a:r>
            <a:r>
              <a:rPr lang="en-US" altLang="zh-CN"/>
              <a:t>div.apphub_Card</a:t>
            </a:r>
            <a:endParaRPr lang="en-US" altLang="zh-CN"/>
          </a:p>
          <a:p>
            <a:r>
              <a:rPr lang="zh-CN" altLang="en-US"/>
              <a:t>文本</a:t>
            </a:r>
            <a:r>
              <a:rPr lang="en-US" altLang="zh-CN"/>
              <a:t> div.apphub_CardTextContent</a:t>
            </a:r>
            <a:endParaRPr lang="en-US" altLang="zh-CN"/>
          </a:p>
          <a:p>
            <a:pPr marL="177800" indent="0">
              <a:buNone/>
            </a:pPr>
            <a:r>
              <a:rPr lang="zh-CN" altLang="en-US">
                <a:ea typeface="宋体" panose="02010600030101010101" pitchFamily="2" charset="-122"/>
              </a:rPr>
              <a:t>来源页</a:t>
            </a:r>
            <a:endParaRPr lang="zh-CN" altLang="en-US">
              <a:ea typeface="宋体" panose="02010600030101010101" pitchFamily="2" charset="-122"/>
            </a:endParaRPr>
          </a:p>
          <a:p>
            <a:pPr marL="177800" indent="0">
              <a:buNone/>
            </a:pPr>
            <a:r>
              <a:rPr lang="zh-CN" altLang="en-US">
                <a:ea typeface="宋体" panose="02010600030101010101" pitchFamily="2" charset="-122"/>
              </a:rPr>
              <a:t>鸭科夫：</a:t>
            </a:r>
            <a:r>
              <a:rPr lang="en-US" altLang="zh-CN">
                <a:ea typeface="宋体" panose="02010600030101010101" pitchFamily="2" charset="-122"/>
              </a:rPr>
              <a:t>https://steamcommunity.com/app/3167020/reviews/</a:t>
            </a:r>
            <a:endParaRPr lang="en-US" altLang="zh-CN">
              <a:ea typeface="宋体" panose="02010600030101010101" pitchFamily="2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0505" y="0"/>
            <a:ext cx="5067935" cy="22320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440" y="2566670"/>
            <a:ext cx="6131560" cy="25768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评论威胁分析模块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可以评论检测：外链</a:t>
            </a:r>
            <a:r>
              <a:rPr lang="en-US" altLang="zh-CN"/>
              <a:t>/</a:t>
            </a:r>
            <a:r>
              <a:rPr lang="zh-CN" altLang="en-US"/>
              <a:t>关键词</a:t>
            </a:r>
            <a:r>
              <a:rPr lang="en-US" altLang="zh-CN"/>
              <a:t>/</a:t>
            </a:r>
            <a:r>
              <a:rPr lang="zh-CN" altLang="en-US"/>
              <a:t>联系方式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产物：</a:t>
            </a:r>
            <a:r>
              <a:rPr lang="en-US" altLang="zh-CN"/>
              <a:t>comment_analysis_results.csv + suspicious_reviews_details.csv</a:t>
            </a:r>
            <a:r>
              <a:rPr lang="zh-CN" altLang="en-US"/>
              <a:t>（含內容）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输出可疑评论</a:t>
            </a:r>
            <a:r>
              <a:rPr lang="en-US" altLang="zh-CN"/>
              <a:t>csv</a:t>
            </a:r>
            <a:r>
              <a:rPr lang="zh-CN" altLang="en-US">
                <a:ea typeface="宋体" panose="02010600030101010101" pitchFamily="2" charset="-122"/>
              </a:rPr>
              <a:t>，便于安全</a:t>
            </a:r>
            <a:r>
              <a:rPr lang="zh-CN" altLang="en-US">
                <a:ea typeface="宋体" panose="02010600030101010101" pitchFamily="2" charset="-122"/>
              </a:rPr>
              <a:t>管理</a:t>
            </a:r>
            <a:endParaRPr lang="zh-CN" altLang="en-US">
              <a:ea typeface="宋体" panose="02010600030101010101" pitchFamily="2" charset="-122"/>
            </a:endParaRPr>
          </a:p>
          <a:p>
            <a:endParaRPr lang="zh-CN" altLang="en-US">
              <a:ea typeface="宋体" panose="02010600030101010101" pitchFamily="2" charset="-122"/>
            </a:endParaRPr>
          </a:p>
          <a:p>
            <a:r>
              <a:rPr lang="zh-CN" altLang="en-US">
                <a:ea typeface="宋体" panose="02010600030101010101" pitchFamily="2" charset="-122"/>
              </a:rPr>
              <a:t>高风险多可疑评论游戏重点</a:t>
            </a:r>
            <a:r>
              <a:rPr lang="zh-CN" altLang="en-US">
                <a:ea typeface="宋体" panose="02010600030101010101" pitchFamily="2" charset="-122"/>
              </a:rPr>
              <a:t>注意</a:t>
            </a:r>
            <a:endParaRPr lang="zh-CN" altLang="en-US">
              <a:ea typeface="宋体" panose="02010600030101010101" pitchFamily="2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810" y="326390"/>
            <a:ext cx="4135120" cy="142049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245" y="2300605"/>
            <a:ext cx="6929755" cy="13550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405" y="3719830"/>
            <a:ext cx="5268595" cy="10788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基础分析与可视化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热度排行</a:t>
            </a:r>
            <a:endParaRPr lang="en-US" altLang="zh-CN"/>
          </a:p>
          <a:p>
            <a:r>
              <a:rPr lang="en-US" altLang="zh-CN"/>
              <a:t>- -</a:t>
            </a:r>
            <a:r>
              <a:rPr lang="zh-CN" altLang="en-US"/>
              <a:t>标签排行榜</a:t>
            </a:r>
            <a:endParaRPr lang="en-US" altLang="zh-CN"/>
          </a:p>
          <a:p>
            <a:r>
              <a:rPr lang="zh-CN" altLang="en-US"/>
              <a:t>折扣力度排行榜</a:t>
            </a:r>
            <a:endParaRPr lang="en-US" altLang="zh-CN"/>
          </a:p>
          <a:p>
            <a:r>
              <a:rPr lang="zh-CN" altLang="en-US"/>
              <a:t>免费付费</a:t>
            </a:r>
            <a:r>
              <a:rPr lang="zh-CN" altLang="en-US"/>
              <a:t>对比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7150" y="1368425"/>
            <a:ext cx="5276850" cy="30283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5350" y="0"/>
            <a:ext cx="433514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深度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pPr marL="177800" indent="0">
              <a:buNone/>
            </a:pP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发售时长</a:t>
            </a:r>
            <a:r>
              <a:rPr lang="en-US" altLang="zh-CN">
                <a:sym typeface="+mn-ea"/>
              </a:rPr>
              <a:t>*</a:t>
            </a:r>
            <a:r>
              <a:rPr lang="zh-CN" altLang="en-US">
                <a:sym typeface="+mn-ea"/>
              </a:rPr>
              <a:t>折扣</a:t>
            </a:r>
            <a:endParaRPr lang="zh-CN" altLang="en-US"/>
          </a:p>
          <a:p>
            <a:pPr marL="177800" indent="0">
              <a:buNone/>
            </a:pPr>
            <a:r>
              <a:rPr lang="zh-CN" altLang="en-US">
                <a:ea typeface="宋体" panose="02010600030101010101" pitchFamily="2" charset="-122"/>
                <a:sym typeface="+mn-ea"/>
              </a:rPr>
              <a:t>老品促销新品曝光</a:t>
            </a:r>
            <a:endParaRPr lang="zh-CN" altLang="en-US">
              <a:ea typeface="宋体" panose="02010600030101010101" pitchFamily="2" charset="-122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不同价位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打折</a:t>
            </a:r>
            <a:r>
              <a:rPr lang="zh-CN" altLang="en-US">
                <a:sym typeface="+mn-ea"/>
              </a:rPr>
              <a:t>频率</a:t>
            </a:r>
            <a:endParaRPr lang="zh-CN" altLang="en-US">
              <a:sym typeface="+mn-ea"/>
            </a:endParaRPr>
          </a:p>
          <a:p>
            <a:pPr marL="177800" indent="0">
              <a:buNone/>
            </a:pPr>
            <a:endParaRPr lang="zh-CN" altLang="en-US" sz="1200">
              <a:ea typeface="宋体" panose="02010600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2225" y="445135"/>
            <a:ext cx="6490970" cy="36607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深度分析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价格尾数心理学</a:t>
            </a:r>
            <a:r>
              <a:rPr lang="en-US" altLang="zh-CN"/>
              <a:t> - .99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标签</a:t>
            </a:r>
            <a:r>
              <a:rPr lang="en-US" altLang="zh-CN"/>
              <a:t>*</a:t>
            </a:r>
            <a:r>
              <a:rPr lang="zh-CN" altLang="en-US"/>
              <a:t>价格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0945" y="445135"/>
            <a:ext cx="5280660" cy="41376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演示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结果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爬取数量可</a:t>
            </a:r>
            <a:r>
              <a:rPr lang="zh-CN" altLang="en-US"/>
              <a:t>随意修改</a:t>
            </a:r>
            <a:endParaRPr lang="zh-CN" altLang="en-US"/>
          </a:p>
          <a:p>
            <a:r>
              <a:rPr lang="zh-CN" altLang="en-US"/>
              <a:t>威胁</a:t>
            </a:r>
            <a:r>
              <a:rPr lang="zh-CN" altLang="en-US"/>
              <a:t>评论分析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5350" y="0"/>
            <a:ext cx="4335145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结果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数据</a:t>
            </a:r>
            <a:r>
              <a:rPr lang="zh-CN" altLang="en-US"/>
              <a:t>来源</a:t>
            </a:r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566160" y="2233930"/>
            <a:ext cx="2011045" cy="67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800" dirty="0">
                <a:solidFill>
                  <a:schemeClr val="bg1"/>
                </a:solidFill>
                <a:latin typeface="Figtree Black"/>
                <a:sym typeface="Figtree Black"/>
              </a:rPr>
              <a:t>thank </a:t>
            </a:r>
            <a:r>
              <a:rPr lang="en-US" altLang="zh-CN" sz="3800" dirty="0">
                <a:solidFill>
                  <a:schemeClr val="bg1"/>
                </a:solidFill>
                <a:latin typeface="Figtree Black"/>
                <a:sym typeface="Figtree Black"/>
              </a:rPr>
              <a:t>u</a:t>
            </a:r>
            <a:endParaRPr lang="en-US" altLang="zh-CN" sz="3800" dirty="0">
              <a:solidFill>
                <a:schemeClr val="bg1"/>
              </a:solidFill>
              <a:latin typeface="Figtree Black"/>
              <a:sym typeface="Figtree Blac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lack &amp; White Thesis Defense by Slidesgo">
  <a:themeElements>
    <a:clrScheme name="Simple Light">
      <a:dk1>
        <a:srgbClr val="333333"/>
      </a:dk1>
      <a:lt1>
        <a:srgbClr val="FDFDFD"/>
      </a:lt1>
      <a:dk2>
        <a:srgbClr val="E8E7E7"/>
      </a:dk2>
      <a:lt2>
        <a:srgbClr val="B2B2B2"/>
      </a:lt2>
      <a:accent1>
        <a:srgbClr val="77777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全屏显示(16:9)</PresentationFormat>
  <Paragraphs>120</Paragraphs>
  <Slides>20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31" baseType="lpstr">
      <vt:lpstr>Arial</vt:lpstr>
      <vt:lpstr>宋体</vt:lpstr>
      <vt:lpstr>Wingdings</vt:lpstr>
      <vt:lpstr>Arial</vt:lpstr>
      <vt:lpstr>Figtree Black</vt:lpstr>
      <vt:lpstr>Hanken Grotesk</vt:lpstr>
      <vt:lpstr>Proxima Nova</vt:lpstr>
      <vt:lpstr>微软雅黑</vt:lpstr>
      <vt:lpstr>Arial Unicode MS</vt:lpstr>
      <vt:lpstr>Elegant Black &amp; White Thesis Defense by Slidesgo</vt:lpstr>
      <vt:lpstr>Slidesgo Final Pages</vt:lpstr>
      <vt:lpstr>Steam数据抓取与评论分析程序</vt:lpstr>
      <vt:lpstr>我超想超你 steam-spider</vt:lpstr>
      <vt:lpstr>PowerPoint 演示文稿</vt:lpstr>
      <vt:lpstr>背景与目标</vt:lpstr>
      <vt:lpstr>总体架构</vt:lpstr>
      <vt:lpstr>数据抓取模块</vt:lpstr>
      <vt:lpstr>数据清洗模块</vt:lpstr>
      <vt:lpstr>数据清洗模块</vt:lpstr>
      <vt:lpstr>PowerPoint 演示文稿</vt:lpstr>
      <vt:lpstr>PowerPoint 演示文稿</vt:lpstr>
      <vt:lpstr>评论威胁分析模块</vt:lpstr>
      <vt:lpstr>基础分析与可视化</vt:lpstr>
      <vt:lpstr>PowerPoint 演示文稿</vt:lpstr>
      <vt:lpstr>深度分析</vt:lpstr>
      <vt:lpstr>深度分析</vt:lpstr>
      <vt:lpstr>PowerPoint 演示文稿</vt:lpstr>
      <vt:lpstr>演示</vt:lpstr>
      <vt:lpstr>PowerPoint 演示文稿</vt:lpstr>
      <vt:lpstr>结果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白皓天</dc:creator>
  <cp:lastModifiedBy>白小天天天</cp:lastModifiedBy>
  <cp:revision>6</cp:revision>
  <dcterms:created xsi:type="dcterms:W3CDTF">2025-11-05T11:06:00Z</dcterms:created>
  <dcterms:modified xsi:type="dcterms:W3CDTF">2025-11-06T03:57:36Z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A0C8C1320A9640C897AE8DD08209C984_12</vt:lpwstr>
  </property>
  <property fmtid="{D5CDD505-2E9C-101B-9397-08002B2CF9AE}" pid="3" name="KSOProductBuildVer">
    <vt:lpwstr>2052-12.1.0.23542</vt:lpwstr>
  </property>
</Properties>
</file>